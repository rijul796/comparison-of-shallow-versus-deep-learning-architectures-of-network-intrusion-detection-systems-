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4" r:id="rId10"/>
    <p:sldId id="273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2C2C4-A69E-CA6E-6119-A0DEBDBE4FC1}" v="386" dt="2026-04-29T17:46:15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b="1">
                <a:latin typeface="Times New Roman"/>
                <a:ea typeface="Calibri"/>
                <a:cs typeface="Times New Roman"/>
              </a:rPr>
              <a:t>Comparison of Shallow versus Deep Learning Architectures of Network Intrusion Detection Systems</a:t>
            </a:r>
            <a:endParaRPr lang="en-US"/>
          </a:p>
          <a:p>
            <a:pPr algn="ctr">
              <a:spcBef>
                <a:spcPts val="400"/>
              </a:spcBef>
            </a:pPr>
            <a:br>
              <a:rPr lang="en-US" sz="20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Saurabh Verma (2210992271)</a:t>
            </a:r>
            <a:b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Shiva </a:t>
            </a:r>
            <a:r>
              <a:rPr lang="en-US" sz="2000" spc="-1" err="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Chahar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 (2210992301)</a:t>
            </a:r>
            <a:b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</a:br>
            <a:r>
              <a:rPr lang="en-US" sz="2000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Rijul Sharma (2210992152)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US" sz="2000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Dr. Monika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spc="-1">
                <a:solidFill>
                  <a:srgbClr val="000000"/>
                </a:solidFill>
                <a:ea typeface="+mn-lt"/>
                <a:cs typeface="+mn-lt"/>
              </a:rPr>
              <a:t>The rapid </a:t>
            </a:r>
            <a:r>
              <a:rPr lang="en-US" sz="1600" spc="-1">
                <a:ea typeface="+mn-lt"/>
                <a:cs typeface="+mn-lt"/>
              </a:rPr>
              <a:t>growth of technologies such as </a:t>
            </a:r>
            <a:r>
              <a:rPr lang="en-US" sz="1600" b="1" spc="-1">
                <a:ea typeface="+mn-lt"/>
                <a:cs typeface="+mn-lt"/>
              </a:rPr>
              <a:t>cloud computing, IoT, and big data</a:t>
            </a:r>
            <a:r>
              <a:rPr lang="en-US" sz="1600" spc="-1" dirty="0">
                <a:ea typeface="+mn-lt"/>
                <a:cs typeface="+mn-lt"/>
              </a:rPr>
              <a:t> </a:t>
            </a:r>
            <a:r>
              <a:rPr lang="en-US" sz="1600" spc="-1">
                <a:ea typeface="+mn-lt"/>
                <a:cs typeface="+mn-lt"/>
              </a:rPr>
              <a:t>has significantly increased network traffic.</a:t>
            </a:r>
            <a:endParaRPr lang="en-US" sz="1600" spc="-1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 spc="-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spc="-1">
                <a:ea typeface="+mn-lt"/>
                <a:cs typeface="+mn-lt"/>
              </a:rPr>
              <a:t>With this growth, </a:t>
            </a:r>
            <a:r>
              <a:rPr lang="en-US" sz="1600" b="1" spc="-1">
                <a:ea typeface="+mn-lt"/>
                <a:cs typeface="+mn-lt"/>
              </a:rPr>
              <a:t>cyber threats</a:t>
            </a:r>
            <a:r>
              <a:rPr lang="en-US" sz="1600" spc="-1">
                <a:ea typeface="+mn-lt"/>
                <a:cs typeface="+mn-lt"/>
              </a:rPr>
              <a:t> like: </a:t>
            </a:r>
            <a:endParaRPr lang="en-US" sz="1600" spc="-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spc="-1">
                <a:ea typeface="+mn-lt"/>
                <a:cs typeface="+mn-lt"/>
              </a:rPr>
              <a:t>Distributed Denial of Service (DDoS) attacks </a:t>
            </a:r>
            <a:endParaRPr lang="en-US" sz="1600" spc="-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spc="-1">
                <a:ea typeface="+mn-lt"/>
                <a:cs typeface="+mn-lt"/>
              </a:rPr>
              <a:t>Ransomware </a:t>
            </a:r>
            <a:endParaRPr lang="en-US" sz="1600" spc="-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spc="-1">
                <a:ea typeface="+mn-lt"/>
                <a:cs typeface="+mn-lt"/>
              </a:rPr>
              <a:t>Data breaches have become more frequent and complex. </a:t>
            </a:r>
            <a:endParaRPr lang="en-US" sz="1600" spc="-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endParaRPr lang="en-US" sz="1600" spc="-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spc="-1" dirty="0">
                <a:ea typeface="+mn-lt"/>
                <a:cs typeface="+mn-lt"/>
              </a:rPr>
              <a:t>Traditional security mechanisms such as </a:t>
            </a:r>
            <a:r>
              <a:rPr lang="en-US" sz="1600" b="1" spc="-1" dirty="0">
                <a:ea typeface="+mn-lt"/>
                <a:cs typeface="+mn-lt"/>
              </a:rPr>
              <a:t>firewalls and encryption</a:t>
            </a:r>
            <a:r>
              <a:rPr lang="en-US" sz="1600" spc="-1" dirty="0">
                <a:ea typeface="+mn-lt"/>
                <a:cs typeface="+mn-lt"/>
              </a:rPr>
              <a:t> act as the first line of defense but are </a:t>
            </a:r>
            <a:r>
              <a:rPr lang="en-US" sz="1600" b="1" spc="-1" dirty="0">
                <a:ea typeface="+mn-lt"/>
                <a:cs typeface="+mn-lt"/>
              </a:rPr>
              <a:t>not capable of detecting advanced or insider attacks</a:t>
            </a:r>
            <a:r>
              <a:rPr lang="en-US" sz="1600" spc="-1" dirty="0">
                <a:ea typeface="+mn-lt"/>
                <a:cs typeface="+mn-lt"/>
              </a:rPr>
              <a:t>. 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 spc="-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spc="-1" dirty="0">
                <a:ea typeface="+mn-lt"/>
                <a:cs typeface="+mn-lt"/>
              </a:rPr>
              <a:t>To overcome these limitations, </a:t>
            </a:r>
            <a:r>
              <a:rPr lang="en-US" sz="1600" b="1" spc="-1" dirty="0">
                <a:ea typeface="+mn-lt"/>
                <a:cs typeface="+mn-lt"/>
              </a:rPr>
              <a:t>Intrusion Detection Systems (IDS)</a:t>
            </a:r>
            <a:r>
              <a:rPr lang="en-US" sz="1600" spc="-1" dirty="0">
                <a:ea typeface="+mn-lt"/>
                <a:cs typeface="+mn-lt"/>
              </a:rPr>
              <a:t> are used to monitor network traffic and detect suspicious activities. 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 spc="-1" dirty="0">
              <a:ea typeface="+mn-lt"/>
              <a:cs typeface="+mn-lt"/>
            </a:endParaRPr>
          </a:p>
          <a:p>
            <a:r>
              <a:rPr lang="en-US" sz="1600" b="1" spc="-1">
                <a:ea typeface="+mn-lt"/>
                <a:cs typeface="+mn-lt"/>
              </a:rPr>
              <a:t>Types of IDS:</a:t>
            </a:r>
            <a:endParaRPr lang="en-US" sz="1600" spc="-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spc="-1">
                <a:ea typeface="+mn-lt"/>
                <a:cs typeface="+mn-lt"/>
              </a:rPr>
              <a:t>Signature-based IDS:</a:t>
            </a:r>
            <a:r>
              <a:rPr lang="en-US" sz="1600" spc="-1">
                <a:ea typeface="+mn-lt"/>
                <a:cs typeface="+mn-lt"/>
              </a:rPr>
              <a:t> Detects known attacks using predefined patterns 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spc="-1" dirty="0">
                <a:ea typeface="+mn-lt"/>
                <a:cs typeface="+mn-lt"/>
              </a:rPr>
              <a:t>Anomaly-based IDS:</a:t>
            </a:r>
            <a:r>
              <a:rPr lang="en-US" sz="1600" spc="-1" dirty="0">
                <a:ea typeface="+mn-lt"/>
                <a:cs typeface="+mn-lt"/>
              </a:rPr>
              <a:t> Detects unknown attacks by identifying deviations from normal behavior 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 spc="-1" dirty="0">
              <a:ea typeface="+mn-lt"/>
              <a:cs typeface="+mn-lt"/>
            </a:endParaRPr>
          </a:p>
          <a:p>
            <a:r>
              <a:rPr lang="en-US" sz="1600" spc="-1">
                <a:ea typeface="+mn-lt"/>
                <a:cs typeface="+mn-lt"/>
              </a:rPr>
              <a:t> This project focuses on enhancing IDS using </a:t>
            </a:r>
            <a:r>
              <a:rPr lang="en-US" sz="1600" b="1" spc="-1">
                <a:ea typeface="+mn-lt"/>
                <a:cs typeface="+mn-lt"/>
              </a:rPr>
              <a:t>Machine Learning and Deep Learning </a:t>
            </a:r>
            <a:r>
              <a:rPr lang="en-US" sz="1600" b="1" spc="-1">
                <a:solidFill>
                  <a:srgbClr val="000000"/>
                </a:solidFill>
                <a:ea typeface="+mn-lt"/>
                <a:cs typeface="+mn-lt"/>
              </a:rPr>
              <a:t>techniques</a:t>
            </a:r>
            <a:endParaRPr lang="en-US" sz="160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452B-C459-08A8-512A-BB7B854D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ea typeface="+mj-lt"/>
                <a:cs typeface="+mj-lt"/>
              </a:rPr>
              <a:t> </a:t>
            </a:r>
            <a:r>
              <a:rPr lang="en-GB" sz="3200">
                <a:latin typeface="Times New Roman"/>
                <a:ea typeface="+mj-lt"/>
                <a:cs typeface="Times New Roman"/>
              </a:rPr>
              <a:t>Problem Statement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BB81C-F61C-4FD2-642F-8B1190F2909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Traditional IDS systems fail to detect </a:t>
            </a:r>
            <a:r>
              <a:rPr lang="en-GB" sz="1600" b="1" dirty="0">
                <a:latin typeface="Times New Roman"/>
                <a:ea typeface="+mn-lt"/>
                <a:cs typeface="Times New Roman"/>
              </a:rPr>
              <a:t>zero-day attacks (new, unseen threats)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</a:p>
          <a:p>
            <a:r>
              <a:rPr lang="en-GB" sz="1600">
                <a:latin typeface="Times New Roman"/>
                <a:ea typeface="+mn-lt"/>
                <a:cs typeface="Times New Roman"/>
              </a:rPr>
              <a:t>Signature-based systems depend on existing attack patterns 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>
                <a:latin typeface="Times New Roman"/>
                <a:ea typeface="+mn-lt"/>
                <a:cs typeface="Times New Roman"/>
              </a:rPr>
              <a:t>Deep learning models are powerful but: </a:t>
            </a:r>
            <a:endParaRPr lang="en-GB" sz="1600" dirty="0">
              <a:latin typeface="Times New Roman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Require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high computational resources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  <a:endParaRPr lang="en-GB" sz="1600" dirty="0">
              <a:latin typeface="Times New Roman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Take longer training time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 lvl="1"/>
            <a:r>
              <a:rPr lang="en-GB" sz="1600" b="1">
                <a:latin typeface="Times New Roman"/>
                <a:ea typeface="+mn-lt"/>
                <a:cs typeface="Times New Roman"/>
              </a:rPr>
              <a:t>Objective of the Study: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r>
              <a:rPr lang="en-GB" sz="1600">
                <a:latin typeface="Times New Roman"/>
                <a:ea typeface="+mn-lt"/>
                <a:cs typeface="Times New Roman"/>
              </a:rPr>
              <a:t>To perform a comparative analysis between: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 lvl="1"/>
            <a:r>
              <a:rPr lang="en-GB" sz="1600" b="1">
                <a:latin typeface="Times New Roman"/>
                <a:ea typeface="+mn-lt"/>
                <a:cs typeface="Times New Roman"/>
              </a:rPr>
              <a:t>Random Forest (Shallow Learning Model)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</a:p>
          <a:p>
            <a:pPr lvl="1"/>
            <a:r>
              <a:rPr lang="en-GB" sz="1600" b="1">
                <a:latin typeface="Times New Roman"/>
                <a:ea typeface="+mn-lt"/>
                <a:cs typeface="Times New Roman"/>
              </a:rPr>
              <a:t>1D Convolutional Neural Network (Deep Learning Model)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</a:p>
          <a:p>
            <a:r>
              <a:rPr lang="en-GB" sz="1600">
                <a:latin typeface="Times New Roman"/>
                <a:ea typeface="+mn-lt"/>
                <a:cs typeface="Times New Roman"/>
              </a:rPr>
              <a:t>Evaluate models based on: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Accuracy </a:t>
            </a:r>
            <a:endParaRPr lang="en-GB" sz="1600" dirty="0">
              <a:latin typeface="Times New Roman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Precision </a:t>
            </a:r>
            <a:endParaRPr lang="en-GB" sz="1600" dirty="0">
              <a:latin typeface="Times New Roman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Recall </a:t>
            </a:r>
            <a:endParaRPr lang="en-GB" sz="1600" dirty="0">
              <a:latin typeface="Times New Roman"/>
              <a:cs typeface="Times New Roman"/>
            </a:endParaRPr>
          </a:p>
          <a:p>
            <a:pPr lvl="1"/>
            <a:r>
              <a:rPr lang="en-GB" sz="1600">
                <a:latin typeface="Times New Roman"/>
                <a:ea typeface="+mn-lt"/>
                <a:cs typeface="Times New Roman"/>
              </a:rPr>
              <a:t>Training time </a:t>
            </a:r>
          </a:p>
          <a:p>
            <a:pPr marL="0" indent="0">
              <a:buNone/>
            </a:pPr>
            <a:r>
              <a:rPr lang="en-GB" sz="1600" dirty="0">
                <a:latin typeface="Times New Roman"/>
                <a:cs typeface="Times New Roman"/>
              </a:rPr>
              <a:t> Goal: Identify the </a:t>
            </a:r>
            <a:r>
              <a:rPr lang="en-GB" sz="1600" b="1" dirty="0">
                <a:latin typeface="Times New Roman"/>
                <a:cs typeface="Times New Roman"/>
              </a:rPr>
              <a:t>most efficient and practical model</a:t>
            </a:r>
            <a:r>
              <a:rPr lang="en-GB" sz="1600" dirty="0">
                <a:latin typeface="Times New Roman"/>
                <a:cs typeface="Times New Roman"/>
              </a:rPr>
              <a:t> for real-world 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280621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BD8B-87B8-FDA1-2499-407EE798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ea typeface="+mj-lt"/>
                <a:cs typeface="+mj-lt"/>
              </a:rPr>
              <a:t> </a:t>
            </a:r>
            <a:r>
              <a:rPr lang="en-GB" sz="3200">
                <a:latin typeface="Times New Roman"/>
                <a:ea typeface="+mj-lt"/>
                <a:cs typeface="Times New Roman"/>
              </a:rPr>
              <a:t>Methodology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3EF2F-15B7-1148-45D2-50E79D623161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>
              <a:buNone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Dataset Used: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NSL-KDD dataset</a:t>
            </a:r>
            <a:r>
              <a:rPr lang="en-GB" sz="1600">
                <a:latin typeface="Times New Roman"/>
                <a:ea typeface="+mn-lt"/>
                <a:cs typeface="Times New Roman"/>
              </a:rPr>
              <a:t> (improved version of KDD’99)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Removes redundancy and bias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Includes: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Normal traffic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Attack types: DoS, Probe, U2R, R2L </a:t>
            </a:r>
            <a:endParaRPr lang="en-GB" sz="1600">
              <a:latin typeface="Times New Roman"/>
              <a:cs typeface="Times New Roman"/>
            </a:endParaRPr>
          </a:p>
          <a:p>
            <a:pPr lvl="1" indent="0">
              <a:buNone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Data Preprocessing: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Categorical Encoding:</a:t>
            </a:r>
            <a:r>
              <a:rPr lang="en-GB" sz="1600">
                <a:latin typeface="Times New Roman"/>
                <a:ea typeface="+mn-lt"/>
                <a:cs typeface="Times New Roman"/>
              </a:rPr>
              <a:t> Convert protocol, service, flags into numeric form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Binary Classification: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Normal = 0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 marL="971550" lvl="1" indent="-285750"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Attack = 1 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Feature Scaling: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Min-Max normalization (values between 0 and 1) </a:t>
            </a:r>
            <a:endParaRPr lang="en-GB" sz="1600">
              <a:latin typeface="Times New Roman"/>
              <a:cs typeface="Times New Roman"/>
            </a:endParaRPr>
          </a:p>
          <a:p>
            <a:pPr lvl="1" indent="0">
              <a:buNone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Models Implemented: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Random Forest (Ensemble learning)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GB" sz="1600">
                <a:latin typeface="Times New Roman"/>
                <a:ea typeface="+mn-lt"/>
                <a:cs typeface="Times New Roman"/>
              </a:rPr>
              <a:t>1D CNN (Deep learning model) </a:t>
            </a:r>
            <a:endParaRPr lang="en-GB" sz="16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6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305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FDD8-E21F-D5BB-F1B1-AA06AB4B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>
                <a:latin typeface="Times New Roman"/>
                <a:ea typeface="+mj-lt"/>
                <a:cs typeface="Times New Roman"/>
              </a:rPr>
              <a:t>Tools &amp; Implementation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576C1-AA74-D991-D42E-FA42E7FF413E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>
              <a:buNone/>
            </a:pPr>
            <a:endParaRPr lang="en-GB" sz="1600" b="1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endParaRPr lang="en-GB" sz="1600" b="1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Tools &amp; Technologies: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Programming Language: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Python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Libraries: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Pandas, NumPy</a:t>
            </a:r>
            <a:r>
              <a:rPr lang="en-GB" sz="1600">
                <a:latin typeface="Times New Roman"/>
                <a:ea typeface="+mn-lt"/>
                <a:cs typeface="Times New Roman"/>
              </a:rPr>
              <a:t> → Data handling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Scikit-learn</a:t>
            </a:r>
            <a:r>
              <a:rPr lang="en-GB" sz="1600">
                <a:latin typeface="Times New Roman"/>
                <a:ea typeface="+mn-lt"/>
                <a:cs typeface="Times New Roman"/>
              </a:rPr>
              <a:t> → Random Forest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Times New Roman"/>
              </a:rPr>
              <a:t>TensorFlow/</a:t>
            </a:r>
            <a:r>
              <a:rPr lang="en-GB" sz="1600" b="1" dirty="0" err="1">
                <a:latin typeface="Times New Roman"/>
                <a:ea typeface="+mn-lt"/>
                <a:cs typeface="Times New Roman"/>
              </a:rPr>
              <a:t>Keras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→ CNN </a:t>
            </a:r>
            <a:endParaRPr lang="en-GB" sz="1600">
              <a:latin typeface="Times New Roman"/>
              <a:cs typeface="Times New Roman"/>
            </a:endParaRPr>
          </a:p>
          <a:p>
            <a:pPr lvl="1" indent="0">
              <a:buNone/>
            </a:pPr>
            <a:r>
              <a:rPr lang="en-GB" sz="1600" b="1">
                <a:latin typeface="Times New Roman"/>
                <a:ea typeface="+mn-lt"/>
                <a:cs typeface="Times New Roman"/>
              </a:rPr>
              <a:t>Implementation Steps:</a:t>
            </a:r>
            <a:endParaRPr lang="en-GB" sz="16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Load and preprocess dataset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Encode categorical features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Normalize numerical features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Train models: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Random Forest (100 trees)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CNN (convolution + pooling layers)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Evaluate performance using: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Accuracy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Precision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Recall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F1-scor</a:t>
            </a:r>
            <a:endParaRPr lang="en-GB" sz="16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6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222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BEA8-40D8-9A48-1D4F-037AAC0C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>
                <a:latin typeface="Times New Roman"/>
                <a:ea typeface="+mj-lt"/>
                <a:cs typeface="Times New Roman"/>
              </a:rPr>
              <a:t>Results &amp; Analysis</a:t>
            </a:r>
            <a:endParaRPr lang="en-US" sz="3200">
              <a:latin typeface="Times New Roman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1E6184-0BB9-5F9A-84AC-1B920A14C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231572"/>
              </p:ext>
            </p:extLst>
          </p:nvPr>
        </p:nvGraphicFramePr>
        <p:xfrm>
          <a:off x="558412" y="1596709"/>
          <a:ext cx="7648542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9514">
                  <a:extLst>
                    <a:ext uri="{9D8B030D-6E8A-4147-A177-3AD203B41FA5}">
                      <a16:colId xmlns:a16="http://schemas.microsoft.com/office/drawing/2014/main" val="2297200946"/>
                    </a:ext>
                  </a:extLst>
                </a:gridCol>
                <a:gridCol w="2549514">
                  <a:extLst>
                    <a:ext uri="{9D8B030D-6E8A-4147-A177-3AD203B41FA5}">
                      <a16:colId xmlns:a16="http://schemas.microsoft.com/office/drawing/2014/main" val="3598322322"/>
                    </a:ext>
                  </a:extLst>
                </a:gridCol>
                <a:gridCol w="2549514">
                  <a:extLst>
                    <a:ext uri="{9D8B030D-6E8A-4147-A177-3AD203B41FA5}">
                      <a16:colId xmlns:a16="http://schemas.microsoft.com/office/drawing/2014/main" val="1820995237"/>
                    </a:ext>
                  </a:extLst>
                </a:gridCol>
              </a:tblGrid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413494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77.04%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76.38%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14944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Training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7.33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25.07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68806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260868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770222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/>
                          <a:cs typeface="Times New Roman"/>
                        </a:rPr>
                        <a:t>0.74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06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79FB5A-3AAC-A525-8F30-CD5DEB76CA64}"/>
              </a:ext>
            </a:extLst>
          </p:cNvPr>
          <p:cNvSpPr txBox="1"/>
          <p:nvPr/>
        </p:nvSpPr>
        <p:spPr>
          <a:xfrm>
            <a:off x="436259" y="4467298"/>
            <a:ext cx="712847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Analysis:</a:t>
            </a:r>
          </a:p>
          <a:p>
            <a:pPr>
              <a:buFont typeface=""/>
              <a:buChar char="•"/>
            </a:pPr>
            <a:r>
              <a:rPr lang="en-US" sz="1600">
                <a:latin typeface="Times New Roman"/>
                <a:cs typeface="Times New Roman"/>
              </a:rPr>
              <a:t>Random Forest achieved </a:t>
            </a:r>
            <a:r>
              <a:rPr lang="en-US" sz="1600" b="1">
                <a:latin typeface="Times New Roman"/>
                <a:cs typeface="Times New Roman"/>
              </a:rPr>
              <a:t>slightly higher accuracy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</a:p>
          <a:p>
            <a:pPr>
              <a:buFont typeface=""/>
              <a:buChar char="•"/>
            </a:pPr>
            <a:r>
              <a:rPr lang="en-US" sz="1600">
                <a:latin typeface="Times New Roman"/>
                <a:cs typeface="Times New Roman"/>
              </a:rPr>
              <a:t>Training time of RF is </a:t>
            </a:r>
            <a:r>
              <a:rPr lang="en-US" sz="1600" b="1">
                <a:latin typeface="Times New Roman"/>
                <a:cs typeface="Times New Roman"/>
              </a:rPr>
              <a:t>much lower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>
                <a:latin typeface="Times New Roman"/>
                <a:cs typeface="Times New Roman"/>
              </a:rPr>
              <a:t>compared to CNN 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600">
                <a:latin typeface="Times New Roman"/>
                <a:cs typeface="Times New Roman"/>
              </a:rPr>
              <a:t>Both models show </a:t>
            </a:r>
            <a:r>
              <a:rPr lang="en-US" sz="1600" b="1">
                <a:latin typeface="Times New Roman"/>
                <a:cs typeface="Times New Roman"/>
              </a:rPr>
              <a:t>high precision (~97%)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>
                <a:latin typeface="Times New Roman"/>
                <a:cs typeface="Times New Roman"/>
              </a:rPr>
              <a:t>→ low false positives </a:t>
            </a:r>
          </a:p>
          <a:p>
            <a:pPr>
              <a:buFont typeface=""/>
              <a:buChar char="•"/>
            </a:pPr>
            <a:r>
              <a:rPr lang="en-US" sz="1600" b="1">
                <a:latin typeface="Times New Roman"/>
                <a:cs typeface="Times New Roman"/>
              </a:rPr>
              <a:t>Recall is moderate (~60%)</a:t>
            </a:r>
            <a:r>
              <a:rPr lang="en-US" sz="1600">
                <a:latin typeface="Times New Roman"/>
                <a:cs typeface="Times New Roman"/>
              </a:rPr>
              <a:t> → some attacks are missed</a:t>
            </a:r>
          </a:p>
          <a:p>
            <a:pPr algn="ctr"/>
            <a:endParaRPr lang="en-GB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470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18FB-C8D2-5AD9-9A27-2A4174F6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>
                <a:latin typeface="Times New Roman"/>
                <a:ea typeface="+mj-lt"/>
                <a:cs typeface="Times New Roman"/>
              </a:rPr>
              <a:t>Conclusion &amp; Future Scope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F8320-4A33-3D5C-4DBA-9E5FBDBFC7E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Random Forest performs better for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structured/tabular data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Deep learning (CNN) does not always guarantee better results </a:t>
            </a:r>
            <a:endParaRPr lang="en-GB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RF provides: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Faster training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Comparable accuracy </a:t>
            </a:r>
            <a:endParaRPr lang="en-GB" sz="1600">
              <a:latin typeface="Times New Roman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Lower computational cost </a:t>
            </a:r>
          </a:p>
          <a:p>
            <a:pPr marL="0" indent="0">
              <a:buNone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Limitations:</a:t>
            </a:r>
            <a:endParaRPr lang="en-GB" sz="2000"/>
          </a:p>
          <a:p>
            <a:pPr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Moderate recall → some attacks not detected </a:t>
            </a:r>
            <a:endParaRPr lang="en-GB" sz="1600">
              <a:latin typeface="Times New Roman"/>
              <a:cs typeface="Times New Roman"/>
            </a:endParaRPr>
          </a:p>
          <a:p>
            <a:pPr lvl="1" indent="-285750">
              <a:buFont typeface="Arial"/>
              <a:buChar char="•"/>
            </a:pPr>
            <a:r>
              <a:rPr lang="en-GB" sz="1600">
                <a:latin typeface="Times New Roman"/>
                <a:ea typeface="+mn-lt"/>
                <a:cs typeface="Times New Roman"/>
              </a:rPr>
              <a:t>Dataset imbalance affects performance </a:t>
            </a:r>
            <a:endParaRPr lang="en-GB" sz="200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br>
              <a:rPr lang="en-GB" b="1" dirty="0">
                <a:latin typeface="Times New Roman"/>
                <a:ea typeface="+mn-lt"/>
                <a:cs typeface="Times New Roman"/>
              </a:rPr>
            </a:br>
            <a:r>
              <a:rPr lang="en-GB" sz="2000" b="1">
                <a:latin typeface="Times New Roman"/>
                <a:ea typeface="+mn-lt"/>
                <a:cs typeface="Times New Roman"/>
              </a:rPr>
              <a:t>Future Scope:</a:t>
            </a:r>
            <a:endParaRPr lang="en-GB"/>
          </a:p>
          <a:p>
            <a:pPr lvl="1" indent="-285750"/>
            <a:r>
              <a:rPr lang="en-GB" sz="1600">
                <a:latin typeface="Times New Roman"/>
                <a:ea typeface="+mn-lt"/>
                <a:cs typeface="Times New Roman"/>
              </a:rPr>
              <a:t>Use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SMOTE</a:t>
            </a:r>
            <a:r>
              <a:rPr lang="en-GB" sz="1600">
                <a:latin typeface="Times New Roman"/>
                <a:ea typeface="+mn-lt"/>
                <a:cs typeface="Times New Roman"/>
              </a:rPr>
              <a:t> to balance dataset </a:t>
            </a:r>
            <a:endParaRPr lang="en-GB" sz="1600">
              <a:latin typeface="Times New Roman"/>
              <a:cs typeface="Times New Roman"/>
            </a:endParaRPr>
          </a:p>
          <a:p>
            <a:pPr lvl="1" indent="-285750"/>
            <a:r>
              <a:rPr lang="en-GB" sz="1600">
                <a:latin typeface="Times New Roman"/>
                <a:ea typeface="+mn-lt"/>
                <a:cs typeface="Times New Roman"/>
              </a:rPr>
              <a:t>Develop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hybrid models (RF + LSTM)</a:t>
            </a:r>
            <a:r>
              <a:rPr lang="en-GB" sz="1600" dirty="0">
                <a:latin typeface="Times New Roman"/>
                <a:ea typeface="+mn-lt"/>
                <a:cs typeface="Times New Roman"/>
              </a:rPr>
              <a:t> </a:t>
            </a:r>
          </a:p>
          <a:p>
            <a:pPr lvl="1" indent="-285750"/>
            <a:r>
              <a:rPr lang="en-GB" sz="1600">
                <a:latin typeface="Times New Roman"/>
                <a:ea typeface="+mn-lt"/>
                <a:cs typeface="Times New Roman"/>
              </a:rPr>
              <a:t>Improve detection of rare attacks </a:t>
            </a:r>
            <a:endParaRPr lang="en-GB" sz="1600">
              <a:latin typeface="Times New Roman"/>
              <a:cs typeface="Times New Roman"/>
            </a:endParaRPr>
          </a:p>
          <a:p>
            <a:pPr lvl="1" indent="-285750"/>
            <a:r>
              <a:rPr lang="en-GB" sz="1600">
                <a:latin typeface="Times New Roman"/>
                <a:ea typeface="+mn-lt"/>
                <a:cs typeface="Times New Roman"/>
              </a:rPr>
              <a:t>Deploy system in </a:t>
            </a:r>
            <a:r>
              <a:rPr lang="en-GB" sz="1600" b="1">
                <a:latin typeface="Times New Roman"/>
                <a:ea typeface="+mn-lt"/>
                <a:cs typeface="Times New Roman"/>
              </a:rPr>
              <a:t>real-time intrusion detection environments</a:t>
            </a:r>
            <a:endParaRPr lang="en-GB" sz="16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6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652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 Problem Statement</vt:lpstr>
      <vt:lpstr> Methodology</vt:lpstr>
      <vt:lpstr>Tools &amp; Implementation</vt:lpstr>
      <vt:lpstr>Results &amp; Analysis</vt:lpstr>
      <vt:lpstr>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2482</cp:revision>
  <dcterms:created xsi:type="dcterms:W3CDTF">2010-04-09T07:36:15Z</dcterms:created>
  <dcterms:modified xsi:type="dcterms:W3CDTF">2026-04-29T17:46:31Z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